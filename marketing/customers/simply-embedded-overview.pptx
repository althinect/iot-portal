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21792"/>
            <a:ext cx="59893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000" b="0">
                <a:solidFill>
                  <a:srgbClr val="1F2529"/>
                </a:solidFill>
                <a:latin typeface="Helvetica Neue"/>
              </a:rPr>
              <a:t>Turning connected devices into operational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5303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84560"/>
                </a:solidFill>
                <a:latin typeface="Helvetica Neue"/>
              </a:rPr>
              <a:t>A partner discussion for Simply Embedded and Telemetra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34640"/>
            <a:ext cx="4983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B6770"/>
                </a:solidFill>
                <a:latin typeface="Helvetica Neue"/>
              </a:rPr>
              <a:t>How industrial deployments become customer portals, dashboards, automation, and reports.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822960"/>
            <a:ext cx="3886200" cy="498348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17536" y="1389888"/>
            <a:ext cx="1243584" cy="914400"/>
          </a:xfrm>
          <a:prstGeom prst="roundRect">
            <a:avLst/>
          </a:prstGeom>
          <a:solidFill>
            <a:srgbClr val="E2EEEA"/>
          </a:solidFill>
          <a:ln w="12700">
            <a:solidFill>
              <a:srgbClr val="00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72983" y="1700784"/>
            <a:ext cx="932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8F62"/>
                </a:solidFill>
                <a:latin typeface="Helvetica Neue"/>
              </a:rPr>
              <a:t>Edge device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534656" y="1261872"/>
            <a:ext cx="54864" cy="16459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34656" y="2258568"/>
            <a:ext cx="54864" cy="16459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08976" y="1261872"/>
            <a:ext cx="54864" cy="16459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08976" y="2258568"/>
            <a:ext cx="54864" cy="16459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261872"/>
            <a:ext cx="54864" cy="16459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2258568"/>
            <a:ext cx="54864" cy="16459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57616" y="1261872"/>
            <a:ext cx="54864" cy="16459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57616" y="2258568"/>
            <a:ext cx="54864" cy="16459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31936" y="1261872"/>
            <a:ext cx="54864" cy="16459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31936" y="2258568"/>
            <a:ext cx="54864" cy="16459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098280" y="1847088"/>
            <a:ext cx="576072" cy="0"/>
          </a:xfrm>
          <a:prstGeom prst="line">
            <a:avLst/>
          </a:prstGeom>
          <a:ln w="22860">
            <a:solidFill>
              <a:srgbClr val="27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loud 18"/>
          <p:cNvSpPr/>
          <p:nvPr/>
        </p:nvSpPr>
        <p:spPr>
          <a:xfrm>
            <a:off x="9738360" y="1444752"/>
            <a:ext cx="969264" cy="768096"/>
          </a:xfrm>
          <a:prstGeom prst="cloud">
            <a:avLst/>
          </a:prstGeom>
          <a:solidFill>
            <a:srgbClr val="E5EFF6"/>
          </a:solidFill>
          <a:ln w="13970">
            <a:solidFill>
              <a:srgbClr val="27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728216"/>
            <a:ext cx="6949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84560"/>
                </a:solidFill>
                <a:latin typeface="Helvetica Neue"/>
              </a:rPr>
              <a:t>Cloud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91272" y="2834640"/>
            <a:ext cx="2743200" cy="283464"/>
          </a:xfrm>
          <a:prstGeom prst="roundRect">
            <a:avLst/>
          </a:prstGeom>
          <a:solidFill>
            <a:srgbClr val="276080"/>
          </a:solidFill>
          <a:ln w="12700">
            <a:solidFill>
              <a:srgbClr val="27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 Neue"/>
              </a:rPr>
              <a:t>Customer portal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1272" y="3310128"/>
            <a:ext cx="2743200" cy="283464"/>
          </a:xfrm>
          <a:prstGeom prst="roundRect">
            <a:avLst/>
          </a:prstGeom>
          <a:solidFill>
            <a:srgbClr val="008F62"/>
          </a:solidFill>
          <a:ln w="12700">
            <a:solidFill>
              <a:srgbClr val="00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 Neue"/>
              </a:rPr>
              <a:t>Dashboards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91272" y="3785616"/>
            <a:ext cx="2743200" cy="283464"/>
          </a:xfrm>
          <a:prstGeom prst="roundRect">
            <a:avLst/>
          </a:prstGeom>
          <a:solidFill>
            <a:srgbClr val="D68F20"/>
          </a:solidFill>
          <a:ln w="12700">
            <a:solidFill>
              <a:srgbClr val="D68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 Neue"/>
              </a:rPr>
              <a:t>Alerts and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91272" y="4261104"/>
            <a:ext cx="2743200" cy="283464"/>
          </a:xfrm>
          <a:prstGeom prst="roundRect">
            <a:avLst/>
          </a:prstGeom>
          <a:solidFill>
            <a:srgbClr val="1F2529"/>
          </a:solidFill>
          <a:ln w="12700">
            <a:solidFill>
              <a:srgbClr val="1F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Helvetica Neue"/>
              </a:rPr>
              <a:t>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4956048"/>
            <a:ext cx="2606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2529"/>
                </a:solidFill>
                <a:latin typeface="Helvetica Neue"/>
              </a:rPr>
              <a:t>Telemetra operations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99648" y="651052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D96"/>
                </a:solidFill>
                <a:latin typeface="Helvetica Neue"/>
              </a:rPr>
              <a:t>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2920"/>
            <a:ext cx="6355080" cy="3063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58368"/>
            <a:ext cx="566928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0" b="0">
                <a:solidFill>
                  <a:srgbClr val="1F2529"/>
                </a:solidFill>
                <a:latin typeface="Helvetica Neue"/>
              </a:rPr>
              <a:t>Turning connected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234440"/>
            <a:ext cx="566928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0" b="0">
                <a:solidFill>
                  <a:srgbClr val="1F2529"/>
                </a:solidFill>
                <a:latin typeface="Helvetica Neue"/>
              </a:rPr>
              <a:t>devices into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810512"/>
            <a:ext cx="594360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0" b="0">
                <a:solidFill>
                  <a:srgbClr val="1F2529"/>
                </a:solidFill>
                <a:latin typeface="Helvetica Neue"/>
              </a:rPr>
              <a:t>operational software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2788920"/>
            <a:ext cx="5303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84560"/>
                </a:solidFill>
                <a:latin typeface="Helvetica Neue"/>
              </a:rPr>
              <a:t>A partner discussion for Simply Embedded and Telemetra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255264"/>
            <a:ext cx="49834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5B6770"/>
                </a:solidFill>
                <a:latin typeface="Helvetica Neue"/>
              </a:rPr>
              <a:t>How industrial deployments become customer portals, dashboards, automation, and reports.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0">
                <a:solidFill>
                  <a:srgbClr val="1F2529"/>
                </a:solidFill>
                <a:latin typeface="Helvetica Neue"/>
              </a:rPr>
              <a:t>Simply Embedded already solves the hard edge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770"/>
                </a:solidFill>
                <a:latin typeface="Helvetica Neue"/>
              </a:rPr>
              <a:t>The strongest partnership starts by respecting the device, firmware, and connectivity work already in place.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0881360" cy="13716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856231"/>
            <a:ext cx="1600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856231"/>
            <a:ext cx="73152" cy="117043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2082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F2529"/>
                </a:solidFill>
                <a:latin typeface="Helvetica Neue"/>
              </a:rPr>
              <a:t>Hardware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86584"/>
            <a:ext cx="1280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5B6770"/>
                </a:solidFill>
                <a:latin typeface="Helvetica Neue"/>
              </a:rPr>
              <a:t>electronics and boards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0008" y="2441448"/>
            <a:ext cx="173736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69464" y="1856231"/>
            <a:ext cx="1600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9464" y="1856231"/>
            <a:ext cx="73152" cy="1170432"/>
          </a:xfrm>
          <a:prstGeom prst="rect">
            <a:avLst/>
          </a:prstGeom>
          <a:solidFill>
            <a:srgbClr val="27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202082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F2529"/>
                </a:solidFill>
                <a:latin typeface="Helvetica Neue"/>
              </a:rPr>
              <a:t>Firmware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2344" y="2386584"/>
            <a:ext cx="1280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5B6770"/>
                </a:solidFill>
                <a:latin typeface="Helvetica Neue"/>
              </a:rPr>
              <a:t>embedded code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06240" y="2441448"/>
            <a:ext cx="173736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25696" y="1856231"/>
            <a:ext cx="1600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1856231"/>
            <a:ext cx="73152" cy="1170432"/>
          </a:xfrm>
          <a:prstGeom prst="rect">
            <a:avLst/>
          </a:prstGeom>
          <a:solidFill>
            <a:srgbClr val="D6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02082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F2529"/>
                </a:solidFill>
                <a:latin typeface="Helvetica Neue"/>
              </a:rPr>
              <a:t>Manufacturing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386584"/>
            <a:ext cx="1280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5B6770"/>
                </a:solidFill>
                <a:latin typeface="Helvetica Neue"/>
              </a:rPr>
              <a:t>prototype to production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62472" y="2441448"/>
            <a:ext cx="173736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81928" y="1856231"/>
            <a:ext cx="1600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1856231"/>
            <a:ext cx="73152" cy="1170432"/>
          </a:xfrm>
          <a:prstGeom prst="rect">
            <a:avLst/>
          </a:prstGeom>
          <a:solidFill>
            <a:srgbClr val="27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02082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F2529"/>
                </a:solidFill>
                <a:latin typeface="Helvetica Neue"/>
              </a:rPr>
              <a:t>Connectivity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386584"/>
            <a:ext cx="1280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5B6770"/>
                </a:solidFill>
                <a:latin typeface="Helvetica Neue"/>
              </a:rPr>
              <a:t>cellular and cloud paths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18704" y="2441448"/>
            <a:ext cx="173736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38160" y="1856231"/>
            <a:ext cx="1600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56231"/>
            <a:ext cx="73152" cy="1170432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02082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F2529"/>
                </a:solidFill>
                <a:latin typeface="Helvetica Neue"/>
              </a:rPr>
              <a:t>Rodeo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86584"/>
            <a:ext cx="1280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5B6770"/>
                </a:solidFill>
                <a:latin typeface="Helvetica Neue"/>
              </a:rPr>
              <a:t>remote sensing platform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74936" y="2441448"/>
            <a:ext cx="173736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94392" y="1856231"/>
            <a:ext cx="16002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94392" y="1856231"/>
            <a:ext cx="73152" cy="1170432"/>
          </a:xfrm>
          <a:prstGeom prst="rect">
            <a:avLst/>
          </a:prstGeom>
          <a:solidFill>
            <a:srgbClr val="1F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77272" y="202082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1F2529"/>
                </a:solidFill>
                <a:latin typeface="Helvetica Neue"/>
              </a:rPr>
              <a:t>Remote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2386584"/>
            <a:ext cx="1280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5B6770"/>
                </a:solidFill>
                <a:latin typeface="Helvetica Neue"/>
              </a:rPr>
              <a:t>FieldSight outcomes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3904487"/>
            <a:ext cx="9966960" cy="120700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9888" y="4206240"/>
            <a:ext cx="9235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F2529"/>
                </a:solidFill>
                <a:latin typeface="Helvetica Neue"/>
              </a:rPr>
              <a:t>Telemetra should enter the conversation after this foundation is acknowledged.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8176" y="4626864"/>
            <a:ext cx="8961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5B6770"/>
                </a:solidFill>
                <a:latin typeface="Helvetica Neue"/>
              </a:rPr>
              <a:t>The goal is not to compete with the edge stack; it is to expand what customers can do once data is flowing.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163056"/>
            <a:ext cx="8138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C949B"/>
                </a:solidFill>
                <a:latin typeface="Helvetica Neue"/>
              </a:rPr>
              <a:t>Source framing: simplyembedded.ca and rodeo-iot.com public positioning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651052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D96"/>
                </a:solidFill>
                <a:latin typeface="Helvetica Neue"/>
              </a:rPr>
              <a:t>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25296" y="4114800"/>
            <a:ext cx="9464040" cy="758952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7320" y="4187952"/>
            <a:ext cx="90982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2529"/>
                </a:solidFill>
                <a:latin typeface="Helvetica Neue"/>
              </a:rPr>
              <a:t>Telemetra should enter the conversation after this foundation is acknowledged.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6464" y="4608576"/>
            <a:ext cx="8961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60" b="0">
                <a:solidFill>
                  <a:srgbClr val="5B6770"/>
                </a:solidFill>
                <a:latin typeface="Helvetica Neue"/>
              </a:rPr>
              <a:t>The goal is not to compete with the edge stack; it is to expand what customers can do once data is flowing.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0">
                <a:solidFill>
                  <a:srgbClr val="1F2529"/>
                </a:solidFill>
                <a:latin typeface="Helvetica Neue"/>
              </a:rPr>
              <a:t>The next layer is what customers operate every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770"/>
                </a:solidFill>
                <a:latin typeface="Helvetica Neue"/>
              </a:rPr>
              <a:t>Once devices are deployed, buyers need repeatable software around monitoring, response, and management.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0881360" cy="13716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51960" y="1664208"/>
            <a:ext cx="3657600" cy="384048"/>
          </a:xfrm>
          <a:prstGeom prst="roundRect">
            <a:avLst/>
          </a:prstGeom>
          <a:solidFill>
            <a:srgbClr val="184560"/>
          </a:solidFill>
          <a:ln w="12700">
            <a:solidFill>
              <a:srgbClr val="18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Customer portals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231136"/>
            <a:ext cx="3657600" cy="384048"/>
          </a:xfrm>
          <a:prstGeom prst="roundRect">
            <a:avLst/>
          </a:prstGeom>
          <a:solidFill>
            <a:srgbClr val="276080"/>
          </a:solidFill>
          <a:ln w="12700">
            <a:solidFill>
              <a:srgbClr val="27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Dashboards and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798064"/>
            <a:ext cx="3657600" cy="384048"/>
          </a:xfrm>
          <a:prstGeom prst="roundRect">
            <a:avLst/>
          </a:prstGeom>
          <a:solidFill>
            <a:srgbClr val="D68F20"/>
          </a:solidFill>
          <a:ln w="12700">
            <a:solidFill>
              <a:srgbClr val="D68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Alerts and acknowledgements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364991"/>
            <a:ext cx="3657600" cy="384048"/>
          </a:xfrm>
          <a:prstGeom prst="roundRect">
            <a:avLst/>
          </a:prstGeom>
          <a:solidFill>
            <a:srgbClr val="008F62"/>
          </a:solidFill>
          <a:ln w="12700">
            <a:solidFill>
              <a:srgbClr val="00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Automation workflows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931920"/>
            <a:ext cx="3657600" cy="384048"/>
          </a:xfrm>
          <a:prstGeom prst="roundRect">
            <a:avLst/>
          </a:prstGeom>
          <a:solidFill>
            <a:srgbClr val="1F2529"/>
          </a:solidFill>
          <a:ln w="12700">
            <a:solidFill>
              <a:srgbClr val="1F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Reports and exports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498848"/>
            <a:ext cx="3657600" cy="384048"/>
          </a:xfrm>
          <a:prstGeom prst="roundRect">
            <a:avLst/>
          </a:prstGeom>
          <a:solidFill>
            <a:srgbClr val="5C707D"/>
          </a:solidFill>
          <a:ln w="12700">
            <a:solidFill>
              <a:srgbClr val="5C7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Helvetica Neue"/>
              </a:rPr>
              <a:t>Enterprise integrations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74519"/>
            <a:ext cx="2468880" cy="233172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48840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F2529"/>
                </a:solidFill>
                <a:latin typeface="Helvetica Neue"/>
              </a:rPr>
              <a:t>Device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724912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B6770"/>
                </a:solidFill>
                <a:latin typeface="Helvetica Neue"/>
              </a:rPr>
              <a:t>Provision hardware</a:t>
            </a:r>
            <a:br/>
            <a:r>
              <a:t>Ship firmware</a:t>
            </a:r>
            <a:br/>
            <a:r>
              <a:t>Keep data flowing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47288" y="2999232"/>
            <a:ext cx="621792" cy="0"/>
          </a:xfrm>
          <a:prstGeom prst="line">
            <a:avLst/>
          </a:prstGeom>
          <a:ln w="21590">
            <a:solidFill>
              <a:srgbClr val="27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69680" y="1874519"/>
            <a:ext cx="2487168" cy="2331720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21488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F2529"/>
                </a:solidFill>
                <a:latin typeface="Helvetica Neue"/>
              </a:rPr>
              <a:t>Operations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724912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B6770"/>
                </a:solidFill>
                <a:latin typeface="Helvetica Neue"/>
              </a:rPr>
              <a:t>See current state</a:t>
            </a:r>
            <a:br/>
            <a:r>
              <a:t>Respond quickly</a:t>
            </a:r>
            <a:br/>
            <a:r>
              <a:t>Share proof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92440" y="2999232"/>
            <a:ext cx="612648" cy="0"/>
          </a:xfrm>
          <a:prstGeom prst="line">
            <a:avLst/>
          </a:prstGeom>
          <a:ln w="21590">
            <a:solidFill>
              <a:srgbClr val="27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57400" y="548640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1F2529"/>
                </a:solidFill>
                <a:latin typeface="Helvetica Neue"/>
              </a:rPr>
              <a:t>This is where Telemetra can make each deployment feel like a complete product.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9648" y="651052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D96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0">
                <a:solidFill>
                  <a:srgbClr val="1F2529"/>
                </a:solidFill>
                <a:latin typeface="Helvetica Neue"/>
              </a:rPr>
              <a:t>Telemetra complements Rodeo instead of replacing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770"/>
                </a:solidFill>
                <a:latin typeface="Helvetica Neue"/>
              </a:rPr>
              <a:t>The cleanest story is a layered architecture where each team keeps its natural ownership.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0881360" cy="13716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00200"/>
            <a:ext cx="10104120" cy="310896"/>
          </a:xfrm>
          <a:prstGeom prst="roundRect">
            <a:avLst/>
          </a:prstGeom>
          <a:solidFill>
            <a:srgbClr val="1F2529"/>
          </a:solidFill>
          <a:ln w="12700">
            <a:solidFill>
              <a:srgbClr val="1F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Helvetica Neue"/>
              </a:rPr>
              <a:t>Positioning: integrate above the edge stack, not against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983480"/>
            <a:ext cx="10104120" cy="658368"/>
          </a:xfrm>
          <a:prstGeom prst="roundRect">
            <a:avLst/>
          </a:prstGeom>
          <a:solidFill>
            <a:srgbClr val="E1E7EB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129784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>
                <a:solidFill>
                  <a:srgbClr val="1F2529"/>
                </a:solidFill>
                <a:latin typeface="Helvetica Neue"/>
              </a:rPr>
              <a:t>Business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138928"/>
            <a:ext cx="6766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529"/>
                </a:solidFill>
                <a:latin typeface="Helvetica Neue"/>
              </a:rPr>
              <a:t>ERP, MES, Power BI, service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069080"/>
            <a:ext cx="10104120" cy="658368"/>
          </a:xfrm>
          <a:prstGeom prst="roundRect">
            <a:avLst/>
          </a:prstGeom>
          <a:solidFill>
            <a:srgbClr val="E0F1EC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15384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>
                <a:solidFill>
                  <a:srgbClr val="008F62"/>
                </a:solidFill>
                <a:latin typeface="Helvetica Neue"/>
              </a:rPr>
              <a:t>Telemetra operations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224528"/>
            <a:ext cx="6766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529"/>
                </a:solidFill>
                <a:latin typeface="Helvetica Neue"/>
              </a:rPr>
              <a:t>Portals, dashboards, automation, reporting, multi-tenant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154680"/>
            <a:ext cx="10104120" cy="658368"/>
          </a:xfrm>
          <a:prstGeom prst="roundRect">
            <a:avLst/>
          </a:prstGeom>
          <a:solidFill>
            <a:srgbClr val="E2EEF6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300984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>
                <a:solidFill>
                  <a:srgbClr val="276080"/>
                </a:solidFill>
                <a:latin typeface="Helvetica Neue"/>
              </a:rPr>
              <a:t>Rodeo and device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10128"/>
            <a:ext cx="6766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529"/>
                </a:solidFill>
                <a:latin typeface="Helvetica Neue"/>
              </a:rPr>
              <a:t>Secure connectivity, remote sensing, data acquisition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240280"/>
            <a:ext cx="10104120" cy="658368"/>
          </a:xfrm>
          <a:prstGeom prst="roundRect">
            <a:avLst/>
          </a:prstGeom>
          <a:solidFill>
            <a:srgbClr val="F6EEE0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386584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>
                <a:solidFill>
                  <a:srgbClr val="D68F20"/>
                </a:solidFill>
                <a:latin typeface="Helvetica Neue"/>
              </a:rPr>
              <a:t>Field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395728"/>
            <a:ext cx="6766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529"/>
                </a:solidFill>
                <a:latin typeface="Helvetica Neue"/>
              </a:rPr>
              <a:t>Sensors, PLCs, equipment, legacy infrastructure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35040" y="4370832"/>
            <a:ext cx="0" cy="384048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035040" y="3456432"/>
            <a:ext cx="0" cy="384048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035040" y="2542032"/>
            <a:ext cx="0" cy="384048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899648" y="651052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D96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0">
                <a:solidFill>
                  <a:srgbClr val="1F2529"/>
                </a:solidFill>
                <a:latin typeface="Helvetica Neue"/>
              </a:rPr>
              <a:t>Remote monitoring becomes an operations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770"/>
                </a:solidFill>
                <a:latin typeface="Helvetica Neue"/>
              </a:rPr>
              <a:t>One FieldSight-style use case can show device data, operator response, and management reporting in one story.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0881360" cy="13716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2084831"/>
            <a:ext cx="19659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581912"/>
            <a:ext cx="603504" cy="603504"/>
          </a:xfrm>
          <a:prstGeom prst="ellipse">
            <a:avLst/>
          </a:prstGeom>
          <a:solidFill>
            <a:srgbClr val="276080"/>
          </a:solidFill>
          <a:ln w="12700">
            <a:solidFill>
              <a:srgbClr val="27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73736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59152"/>
            <a:ext cx="1627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F2529"/>
                </a:solidFill>
                <a:latin typeface="Helvetica Neue"/>
              </a:rPr>
              <a:t>Telemetry arrives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16352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0">
                <a:solidFill>
                  <a:srgbClr val="5B6770"/>
                </a:solidFill>
                <a:latin typeface="Helvetica Neue"/>
              </a:rPr>
              <a:t>Remote site sends readings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9191" y="2871216"/>
            <a:ext cx="274321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53512" y="2084831"/>
            <a:ext cx="19659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1581912"/>
            <a:ext cx="603504" cy="603504"/>
          </a:xfrm>
          <a:prstGeom prst="ellipse">
            <a:avLst/>
          </a:prstGeom>
          <a:solidFill>
            <a:srgbClr val="008F62"/>
          </a:solidFill>
          <a:ln w="12700">
            <a:solidFill>
              <a:srgbClr val="00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3736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2359152"/>
            <a:ext cx="1627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F2529"/>
                </a:solidFill>
                <a:latin typeface="Helvetica Neue"/>
              </a:rPr>
              <a:t>Dashboard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816352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0">
                <a:solidFill>
                  <a:srgbClr val="5B6770"/>
                </a:solidFill>
                <a:latin typeface="Helvetica Neue"/>
              </a:rPr>
              <a:t>Operator sees condition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19472" y="2871216"/>
            <a:ext cx="274320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93792" y="2084831"/>
            <a:ext cx="19659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0" y="1581912"/>
            <a:ext cx="603504" cy="603504"/>
          </a:xfrm>
          <a:prstGeom prst="ellipse">
            <a:avLst/>
          </a:prstGeom>
          <a:solidFill>
            <a:srgbClr val="D68F20"/>
          </a:solidFill>
          <a:ln w="12700">
            <a:solidFill>
              <a:srgbClr val="D68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73736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359152"/>
            <a:ext cx="1627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F2529"/>
                </a:solidFill>
                <a:latin typeface="Helvetica Neue"/>
              </a:rPr>
              <a:t>Threshold fires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816352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0">
                <a:solidFill>
                  <a:srgbClr val="5B6770"/>
                </a:solidFill>
                <a:latin typeface="Helvetica Neue"/>
              </a:rPr>
              <a:t>Alert explains change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59752" y="2871216"/>
            <a:ext cx="274320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34072" y="2084831"/>
            <a:ext cx="19659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92440" y="1581912"/>
            <a:ext cx="603504" cy="603504"/>
          </a:xfrm>
          <a:prstGeom prst="ellipse">
            <a:avLst/>
          </a:prstGeom>
          <a:solidFill>
            <a:srgbClr val="184560"/>
          </a:solidFill>
          <a:ln w="12700">
            <a:solidFill>
              <a:srgbClr val="18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173736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664" y="2359152"/>
            <a:ext cx="1627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F2529"/>
                </a:solidFill>
                <a:latin typeface="Helvetica Neue"/>
              </a:rPr>
              <a:t>Action is 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2816352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0">
                <a:solidFill>
                  <a:srgbClr val="5B6770"/>
                </a:solidFill>
                <a:latin typeface="Helvetica Neue"/>
              </a:rPr>
              <a:t>Command or config update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00032" y="2871216"/>
            <a:ext cx="274320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74352" y="2084831"/>
            <a:ext cx="19659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1581912"/>
            <a:ext cx="603504" cy="603504"/>
          </a:xfrm>
          <a:prstGeom prst="ellipse">
            <a:avLst/>
          </a:prstGeom>
          <a:solidFill>
            <a:srgbClr val="1F2529"/>
          </a:solidFill>
          <a:ln w="12700">
            <a:solidFill>
              <a:srgbClr val="1F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1737360"/>
            <a:ext cx="411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8944" y="2359152"/>
            <a:ext cx="1627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>
                <a:solidFill>
                  <a:srgbClr val="1F2529"/>
                </a:solidFill>
                <a:latin typeface="Helvetica Neue"/>
              </a:rPr>
              <a:t>Report closes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2816352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70" b="0">
                <a:solidFill>
                  <a:srgbClr val="5B6770"/>
                </a:solidFill>
                <a:latin typeface="Helvetica Neue"/>
              </a:rPr>
              <a:t>Manager sees trend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4864608"/>
            <a:ext cx="9601200" cy="566928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5047488"/>
            <a:ext cx="8869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F2529"/>
                </a:solidFill>
                <a:latin typeface="Helvetica Neue"/>
              </a:rPr>
              <a:t>The demo should feel like a customer workflow, not a menu tour.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99648" y="651052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28D96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0">
                <a:solidFill>
                  <a:srgbClr val="1F2529"/>
                </a:solidFill>
                <a:latin typeface="Helvetica Neue"/>
              </a:rPr>
              <a:t>The live demo will follow one realistic customer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770"/>
                </a:solidFill>
                <a:latin typeface="Helvetica Neue"/>
              </a:rPr>
              <a:t>The meeting can move from strategy to proof without needing custom hardware on day 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0881360" cy="13716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331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331720" cy="109728"/>
          </a:xfrm>
          <a:prstGeom prst="rect">
            <a:avLst/>
          </a:prstGeom>
          <a:solidFill>
            <a:srgbClr val="27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18745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50" b="1">
                <a:solidFill>
                  <a:srgbClr val="1F2529"/>
                </a:solidFill>
                <a:latin typeface="Helvetica Neue"/>
              </a:rPr>
              <a:t>Provision device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035808"/>
            <a:ext cx="18745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770"/>
                </a:solidFill>
                <a:latin typeface="Helvetica Neue"/>
              </a:rPr>
              <a:t>Define telemetry and command channels.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31596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76080"/>
                </a:solidFill>
                <a:latin typeface="Helvetica Neue"/>
              </a:rPr>
              <a:t>Demo step 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79" y="3310128"/>
            <a:ext cx="338329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11879" y="1828800"/>
            <a:ext cx="2331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1828800"/>
            <a:ext cx="2331720" cy="109728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240280"/>
            <a:ext cx="18745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50" b="1">
                <a:solidFill>
                  <a:srgbClr val="1F2529"/>
                </a:solidFill>
                <a:latin typeface="Helvetica Neue"/>
              </a:rPr>
              <a:t>Monitor live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3035808"/>
            <a:ext cx="18745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770"/>
                </a:solidFill>
                <a:latin typeface="Helvetica Neue"/>
              </a:rPr>
              <a:t>Show site health, trends, and readings.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431596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8F62"/>
                </a:solidFill>
                <a:latin typeface="Helvetica Neue"/>
              </a:rPr>
              <a:t>Demo step 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3310128"/>
            <a:ext cx="338327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1828800"/>
            <a:ext cx="2331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2331720" cy="109728"/>
          </a:xfrm>
          <a:prstGeom prst="rect">
            <a:avLst/>
          </a:prstGeom>
          <a:solidFill>
            <a:srgbClr val="D6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240280"/>
            <a:ext cx="18745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50" b="1">
                <a:solidFill>
                  <a:srgbClr val="1F2529"/>
                </a:solidFill>
                <a:latin typeface="Helvetica Neue"/>
              </a:rPr>
              <a:t>Trigger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035808"/>
            <a:ext cx="18745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770"/>
                </a:solidFill>
                <a:latin typeface="Helvetica Neue"/>
              </a:rPr>
              <a:t>Create an alert and route the response.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31596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D68F20"/>
                </a:solidFill>
                <a:latin typeface="Helvetica Neue"/>
              </a:rPr>
              <a:t>Demo step 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3310128"/>
            <a:ext cx="338328" cy="0"/>
          </a:xfrm>
          <a:prstGeom prst="line">
            <a:avLst/>
          </a:prstGeom>
          <a:ln w="13970">
            <a:solidFill>
              <a:srgbClr val="C7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89719" y="1828800"/>
            <a:ext cx="23317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19" y="1828800"/>
            <a:ext cx="2331720" cy="109728"/>
          </a:xfrm>
          <a:prstGeom prst="rect">
            <a:avLst/>
          </a:prstGeom>
          <a:solidFill>
            <a:srgbClr val="1F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0888" y="2240280"/>
            <a:ext cx="18745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50" b="1">
                <a:solidFill>
                  <a:srgbClr val="1F2529"/>
                </a:solidFill>
                <a:latin typeface="Helvetica Neue"/>
              </a:rPr>
              <a:t>Review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3035808"/>
            <a:ext cx="18745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770"/>
                </a:solidFill>
                <a:latin typeface="Helvetica Neue"/>
              </a:rPr>
              <a:t>Summarize incidents and uptime.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431596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529"/>
                </a:solidFill>
                <a:latin typeface="Helvetica Neue"/>
              </a:rPr>
              <a:t>Demo 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53212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F2529"/>
                </a:solidFill>
                <a:latin typeface="Helvetica Neue"/>
              </a:rPr>
              <a:t>This keeps the demo concrete while leaving room to ask where Rodeo data could enter the 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99648" y="651052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D96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0">
                <a:solidFill>
                  <a:srgbClr val="1F2529"/>
                </a:solidFill>
                <a:latin typeface="Helvetica Neue"/>
              </a:rPr>
              <a:t>Partnership models can start small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770"/>
                </a:solidFill>
                <a:latin typeface="Helvetica Neue"/>
              </a:rPr>
              <a:t>The first step should prove fit without forcing a large commercial decision in the room.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0881360" cy="13716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47088"/>
            <a:ext cx="318211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47088"/>
            <a:ext cx="3182112" cy="137160"/>
          </a:xfrm>
          <a:prstGeom prst="rect">
            <a:avLst/>
          </a:prstGeom>
          <a:solidFill>
            <a:srgbClr val="27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2359152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F2529"/>
                </a:solidFill>
                <a:latin typeface="Helvetica Neue"/>
              </a:rPr>
              <a:t>Integration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3063240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5B6770"/>
                </a:solidFill>
                <a:latin typeface="Helvetica Neue"/>
              </a:rPr>
              <a:t>Consume device or Rodeo data and present customer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9928" y="4315968"/>
            <a:ext cx="1508760" cy="310896"/>
          </a:xfrm>
          <a:prstGeom prst="roundRect">
            <a:avLst/>
          </a:prstGeom>
          <a:solidFill>
            <a:srgbClr val="276080"/>
          </a:solidFill>
          <a:ln w="12700">
            <a:solidFill>
              <a:srgbClr val="27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low-friction 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847088"/>
            <a:ext cx="318211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47088"/>
            <a:ext cx="3182112" cy="137160"/>
          </a:xfrm>
          <a:prstGeom prst="rect">
            <a:avLst/>
          </a:prstGeom>
          <a:solidFill>
            <a:srgbClr val="008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59152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F2529"/>
                </a:solidFill>
                <a:latin typeface="Helvetica Neue"/>
              </a:rPr>
              <a:t>White-label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3063240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5B6770"/>
                </a:solidFill>
                <a:latin typeface="Helvetica Neue"/>
              </a:rPr>
              <a:t>Use Simply Embedded branding for selected customer deployments.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58968" y="4315968"/>
            <a:ext cx="1508760" cy="310896"/>
          </a:xfrm>
          <a:prstGeom prst="roundRect">
            <a:avLst/>
          </a:prstGeom>
          <a:solidFill>
            <a:srgbClr val="008F62"/>
          </a:solidFill>
          <a:ln w="12700">
            <a:solidFill>
              <a:srgbClr val="00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low-friction 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59" y="1847088"/>
            <a:ext cx="318211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59" y="1847088"/>
            <a:ext cx="3182112" cy="137160"/>
          </a:xfrm>
          <a:prstGeom prst="rect">
            <a:avLst/>
          </a:prstGeom>
          <a:solidFill>
            <a:srgbClr val="D68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799" y="2359152"/>
            <a:ext cx="2542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F2529"/>
                </a:solidFill>
                <a:latin typeface="Helvetica Neue"/>
              </a:rPr>
              <a:t>Joint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3063240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5B6770"/>
                </a:solidFill>
                <a:latin typeface="Helvetica Neue"/>
              </a:rPr>
              <a:t>Build one device profile, one dashboard, and one report workflow.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08007" y="4315968"/>
            <a:ext cx="1508760" cy="310896"/>
          </a:xfrm>
          <a:prstGeom prst="roundRect">
            <a:avLst/>
          </a:prstGeom>
          <a:solidFill>
            <a:srgbClr val="D68F20"/>
          </a:solidFill>
          <a:ln w="12700">
            <a:solidFill>
              <a:srgbClr val="D68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low-friction 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5532120"/>
            <a:ext cx="9326880" cy="393192"/>
          </a:xfrm>
          <a:prstGeom prst="roundRect">
            <a:avLst/>
          </a:prstGeom>
          <a:solidFill>
            <a:srgbClr val="F5F7F9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5641848"/>
            <a:ext cx="8732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F2529"/>
                </a:solidFill>
                <a:latin typeface="Helvetica Neue"/>
              </a:rPr>
              <a:t>Recommendation: use the first meeting to choose the pilot shape.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99648" y="651052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D96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9319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0">
                <a:solidFill>
                  <a:srgbClr val="1F2529"/>
                </a:solidFill>
                <a:latin typeface="Helvetica Neue"/>
              </a:rPr>
              <a:t>Recommended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32688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B6770"/>
                </a:solidFill>
                <a:latin typeface="Helvetica Neue"/>
              </a:rPr>
              <a:t>Turn the conversation into a narrow pilot that proves technical fit and customer value.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25296"/>
            <a:ext cx="10881360" cy="13716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2240280"/>
            <a:ext cx="9464040" cy="41148"/>
          </a:xfrm>
          <a:prstGeom prst="rect">
            <a:avLst/>
          </a:prstGeom>
          <a:solidFill>
            <a:srgbClr val="C7C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76272" y="1938528"/>
            <a:ext cx="658368" cy="658368"/>
          </a:xfrm>
          <a:prstGeom prst="ellipse">
            <a:avLst/>
          </a:prstGeom>
          <a:solidFill>
            <a:srgbClr val="27608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58568" y="211226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07792"/>
            <a:ext cx="3063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82112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76080"/>
                </a:solidFill>
                <a:latin typeface="Helvetica Neue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29584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2529"/>
                </a:solidFill>
                <a:latin typeface="Helvetica Neue"/>
              </a:rPr>
              <a:t>Agree payload and 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00507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B6770"/>
                </a:solidFill>
                <a:latin typeface="Helvetica Neue"/>
              </a:rPr>
              <a:t>Pick one remote monitoring scenario and the device fields that matter.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1938528"/>
            <a:ext cx="658368" cy="658368"/>
          </a:xfrm>
          <a:prstGeom prst="ellipse">
            <a:avLst/>
          </a:prstGeom>
          <a:solidFill>
            <a:srgbClr val="008F6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25896" y="211226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907792"/>
            <a:ext cx="3063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3182112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8F62"/>
                </a:solidFill>
                <a:latin typeface="Helvetica Neue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3529584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2529"/>
                </a:solidFill>
                <a:latin typeface="Helvetica Neue"/>
              </a:rPr>
              <a:t>Build tailored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400507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B6770"/>
                </a:solidFill>
                <a:latin typeface="Helvetica Neue"/>
              </a:rPr>
              <a:t>Create the profile, dashboard, alert workflow, and report view.</a:t>
            </a:r>
          </a:p>
        </p:txBody>
      </p:sp>
      <p:sp>
        <p:nvSpPr>
          <p:cNvPr id="18" name="Oval 17"/>
          <p:cNvSpPr/>
          <p:nvPr/>
        </p:nvSpPr>
        <p:spPr>
          <a:xfrm>
            <a:off x="9710928" y="1938528"/>
            <a:ext cx="658368" cy="658368"/>
          </a:xfrm>
          <a:prstGeom prst="ellipse">
            <a:avLst/>
          </a:prstGeom>
          <a:solidFill>
            <a:srgbClr val="D68F2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3224" y="211226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49056" y="2907792"/>
            <a:ext cx="3063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23376" y="3182112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D68F20"/>
                </a:solidFill>
                <a:latin typeface="Helvetica Neue"/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6" y="3529584"/>
            <a:ext cx="2606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F2529"/>
                </a:solidFill>
                <a:latin typeface="Helvetica Neue"/>
              </a:rPr>
              <a:t>Review and choose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9096" y="4005072"/>
            <a:ext cx="2395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B6770"/>
                </a:solidFill>
                <a:latin typeface="Helvetica Neue"/>
              </a:rPr>
              <a:t>Decide integration partner, white-label portal, or joint pilot next.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32120"/>
            <a:ext cx="9326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1F2529"/>
                </a:solidFill>
                <a:latin typeface="Helvetica Neue"/>
              </a:rPr>
              <a:t>A small pilot gives both teams enough evidence to discuss a real partnership.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99648" y="6510528"/>
            <a:ext cx="640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D96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Simply Embedded Overview</dc:title>
  <dc:subject>Telemetra partner overview deck</dc:subject>
  <dc:creator>Telemetra</dc:creator>
  <cp:keywords/>
  <dc:description>Prepared for a Simply Embedded partner discovery meeting.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